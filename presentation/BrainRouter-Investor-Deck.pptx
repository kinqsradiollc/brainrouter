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8997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C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560320"/>
            <a:ext cx="7498080" cy="6035040"/>
          </a:xfrm>
          <a:prstGeom prst="ellipse">
            <a:avLst/>
          </a:prstGeom>
          <a:solidFill>
            <a:srgbClr val="34C28E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326880" y="-1371600"/>
            <a:ext cx="4389120" cy="3840480"/>
          </a:xfrm>
          <a:prstGeom prst="ellipse">
            <a:avLst/>
          </a:prstGeom>
          <a:solidFill>
            <a:srgbClr val="34C28E">
              <a:alpha val="9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13232" y="603504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0F1F18"/>
          </a:solidFill>
          <a:ln w="17780">
            <a:solidFill>
              <a:srgbClr val="34C2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704088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61872" y="58521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50" dirty="0">
                <a:solidFill>
                  <a:srgbClr val="F4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BrainRouter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13232" y="228600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34C28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MEMORY LAYER FOR AI AGENTS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76656" y="269748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5800" b="1" dirty="0">
                <a:solidFill>
                  <a:srgbClr val="F4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Agents that</a:t>
            </a:r>
            <a:endParaRPr lang="en-US" sz="58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5800" b="1" dirty="0">
                <a:solidFill>
                  <a:srgbClr val="F4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remember.</a:t>
            </a:r>
            <a:endParaRPr lang="en-US" sz="5800" dirty="0"/>
          </a:p>
        </p:txBody>
      </p:sp>
      <p:sp>
        <p:nvSpPr>
          <p:cNvPr id="9" name="Text 6"/>
          <p:cNvSpPr/>
          <p:nvPr/>
        </p:nvSpPr>
        <p:spPr>
          <a:xfrm>
            <a:off x="713232" y="457200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CD3D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Capture what matters. Forget what doesn't. Surface the right context on every prompt.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13232" y="544068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0F1F18"/>
          </a:solidFill>
          <a:ln w="12700">
            <a:solidFill>
              <a:srgbClr val="1E9E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13232" y="5431536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50" dirty="0">
                <a:solidFill>
                  <a:srgbClr val="34C28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on npm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679192" y="544068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14181C"/>
          </a:solidFill>
          <a:ln w="12700">
            <a:solidFill>
              <a:srgbClr val="262D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679192" y="5431536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50" dirty="0">
                <a:solidFill>
                  <a:srgbClr val="CCD3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source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13232" y="6144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9AA3A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Anh Dang     ·     [ Event ]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183880" y="2468880"/>
            <a:ext cx="1508760" cy="1188720"/>
          </a:xfrm>
          <a:prstGeom prst="line">
            <a:avLst/>
          </a:prstGeom>
          <a:noFill/>
          <a:ln w="15875">
            <a:solidFill>
              <a:srgbClr val="34C28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 flipV="1">
            <a:off x="9692640" y="2011680"/>
            <a:ext cx="137160" cy="1645920"/>
          </a:xfrm>
          <a:prstGeom prst="line">
            <a:avLst/>
          </a:prstGeom>
          <a:noFill/>
          <a:ln w="15875">
            <a:solidFill>
              <a:srgbClr val="34C28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 flipV="1">
            <a:off x="9692640" y="2834640"/>
            <a:ext cx="1645920" cy="822960"/>
          </a:xfrm>
          <a:prstGeom prst="line">
            <a:avLst/>
          </a:prstGeom>
          <a:noFill/>
          <a:ln w="15875">
            <a:solidFill>
              <a:srgbClr val="34C28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9692640" y="3657600"/>
            <a:ext cx="1463040" cy="1005840"/>
          </a:xfrm>
          <a:prstGeom prst="line">
            <a:avLst/>
          </a:prstGeom>
          <a:noFill/>
          <a:ln w="15875">
            <a:solidFill>
              <a:srgbClr val="34C28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 flipV="1">
            <a:off x="9418320" y="3657600"/>
            <a:ext cx="274320" cy="1600200"/>
          </a:xfrm>
          <a:prstGeom prst="line">
            <a:avLst/>
          </a:prstGeom>
          <a:noFill/>
          <a:ln w="15875">
            <a:solidFill>
              <a:srgbClr val="34C28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 flipV="1">
            <a:off x="8046720" y="3657600"/>
            <a:ext cx="1645920" cy="548640"/>
          </a:xfrm>
          <a:prstGeom prst="line">
            <a:avLst/>
          </a:prstGeom>
          <a:noFill/>
          <a:ln w="15875">
            <a:solidFill>
              <a:srgbClr val="34C28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 flipV="1">
            <a:off x="8183880" y="2011680"/>
            <a:ext cx="1645920" cy="457200"/>
          </a:xfrm>
          <a:prstGeom prst="line">
            <a:avLst/>
          </a:prstGeom>
          <a:noFill/>
          <a:ln w="12700">
            <a:solidFill>
              <a:srgbClr val="262D34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 flipV="1">
            <a:off x="11155680" y="2834640"/>
            <a:ext cx="182880" cy="1828800"/>
          </a:xfrm>
          <a:prstGeom prst="line">
            <a:avLst/>
          </a:prstGeom>
          <a:noFill/>
          <a:ln w="12700">
            <a:solidFill>
              <a:srgbClr val="262D34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8046720" y="2331720"/>
            <a:ext cx="274320" cy="274320"/>
          </a:xfrm>
          <a:prstGeom prst="ellipse">
            <a:avLst/>
          </a:prstGeom>
          <a:solidFill>
            <a:srgbClr val="34C28E"/>
          </a:solidFill>
          <a:ln w="17780">
            <a:solidFill>
              <a:srgbClr val="34C2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9720072" y="1901952"/>
            <a:ext cx="219456" cy="219456"/>
          </a:xfrm>
          <a:prstGeom prst="ellipse">
            <a:avLst/>
          </a:prstGeom>
          <a:solidFill>
            <a:srgbClr val="14181C"/>
          </a:solidFill>
          <a:ln w="17780">
            <a:solidFill>
              <a:srgbClr val="34C2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11192256" y="2688336"/>
            <a:ext cx="292608" cy="292608"/>
          </a:xfrm>
          <a:prstGeom prst="ellipse">
            <a:avLst/>
          </a:prstGeom>
          <a:solidFill>
            <a:srgbClr val="34C28E"/>
          </a:solidFill>
          <a:ln w="17780">
            <a:solidFill>
              <a:srgbClr val="34C2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11036808" y="4544568"/>
            <a:ext cx="237744" cy="237744"/>
          </a:xfrm>
          <a:prstGeom prst="ellipse">
            <a:avLst/>
          </a:prstGeom>
          <a:solidFill>
            <a:srgbClr val="14181C"/>
          </a:solidFill>
          <a:ln w="17780">
            <a:solidFill>
              <a:srgbClr val="34C2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9281160" y="5120640"/>
            <a:ext cx="274320" cy="274320"/>
          </a:xfrm>
          <a:prstGeom prst="ellipse">
            <a:avLst/>
          </a:prstGeom>
          <a:solidFill>
            <a:srgbClr val="34C28E"/>
          </a:solidFill>
          <a:ln w="17780">
            <a:solidFill>
              <a:srgbClr val="34C2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7946136" y="4105656"/>
            <a:ext cx="201168" cy="201168"/>
          </a:xfrm>
          <a:prstGeom prst="ellipse">
            <a:avLst/>
          </a:prstGeom>
          <a:solidFill>
            <a:srgbClr val="14181C"/>
          </a:solidFill>
          <a:ln w="17780">
            <a:solidFill>
              <a:srgbClr val="34C2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9363456" y="3328416"/>
            <a:ext cx="658368" cy="658368"/>
          </a:xfrm>
          <a:prstGeom prst="ellipse">
            <a:avLst/>
          </a:prstGeom>
          <a:solidFill>
            <a:srgbClr val="0F1F18"/>
          </a:solidFill>
          <a:ln w="25400">
            <a:solidFill>
              <a:srgbClr val="34C28E"/>
            </a:solidFill>
            <a:prstDash val="solid"/>
          </a:ln>
          <a:effectLst>
            <a:outerShdw blurRad="177800" dist="508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8904" y="3483864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C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653796"/>
            <a:ext cx="109728" cy="109728"/>
          </a:xfrm>
          <a:prstGeom prst="ellipse">
            <a:avLst/>
          </a:prstGeom>
          <a:solidFill>
            <a:srgbClr val="34C2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60120" y="55778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4C28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" y="1051560"/>
            <a:ext cx="107624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3600" b="1" dirty="0">
                <a:solidFill>
                  <a:srgbClr val="F4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session, your agent</a:t>
            </a:r>
            <a:endParaRPr lang="en-US" sz="3600" dirty="0"/>
          </a:p>
          <a:p>
            <a:pPr marL="0" indent="0">
              <a:lnSpc>
                <a:spcPct val="103000"/>
              </a:lnSpc>
              <a:buNone/>
            </a:pPr>
            <a:r>
              <a:rPr lang="en-US" sz="3600" b="1" dirty="0">
                <a:solidFill>
                  <a:srgbClr val="F4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starts from zero.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13232" y="292608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CD3D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LLMs have no memory between conversations. Your agent re-learns the same facts, re-reads the same files, and re-asks the same questions — every time.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443484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CD3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smartest model in the world </a:t>
            </a:r>
            <a:r>
              <a:rPr lang="en-US" sz="1900" b="1" dirty="0">
                <a:solidFill>
                  <a:srgbClr val="34C28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still has amnesia.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995160" y="1554480"/>
            <a:ext cx="4526280" cy="987552"/>
          </a:xfrm>
          <a:prstGeom prst="roundRect">
            <a:avLst>
              <a:gd name="adj" fmla="val 10185"/>
            </a:avLst>
          </a:prstGeom>
          <a:solidFill>
            <a:srgbClr val="11161A"/>
          </a:solidFill>
          <a:ln w="12700">
            <a:solidFill>
              <a:srgbClr val="1E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269480" y="1837944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20100F"/>
          </a:solidFill>
          <a:ln w="15240">
            <a:solidFill>
              <a:srgbClr val="EF6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269480" y="18196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F6F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↺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891272" y="175564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First chat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891272" y="20665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3A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context rebuilt from scratch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995160" y="2761488"/>
            <a:ext cx="4526280" cy="987552"/>
          </a:xfrm>
          <a:prstGeom prst="roundRect">
            <a:avLst>
              <a:gd name="adj" fmla="val 10185"/>
            </a:avLst>
          </a:prstGeom>
          <a:solidFill>
            <a:srgbClr val="11161A"/>
          </a:solidFill>
          <a:ln w="12700">
            <a:solidFill>
              <a:srgbClr val="1E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269480" y="3044952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20100F"/>
          </a:solidFill>
          <a:ln w="15240">
            <a:solidFill>
              <a:srgbClr val="EF6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269480" y="3026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F6F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↺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891272" y="296265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week later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891272" y="32735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3A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context rebuilt from scratch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995160" y="3968496"/>
            <a:ext cx="4526280" cy="987552"/>
          </a:xfrm>
          <a:prstGeom prst="roundRect">
            <a:avLst>
              <a:gd name="adj" fmla="val 10185"/>
            </a:avLst>
          </a:prstGeom>
          <a:solidFill>
            <a:srgbClr val="11161A"/>
          </a:solidFill>
          <a:ln w="12700">
            <a:solidFill>
              <a:srgbClr val="1E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269480" y="4251960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20100F"/>
          </a:solidFill>
          <a:ln w="15240">
            <a:solidFill>
              <a:srgbClr val="EF6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269480" y="42336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F6F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↺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891272" y="416966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month later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891272" y="4480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3A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context rebuilt from scratch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13232" y="6510528"/>
            <a:ext cx="91440" cy="91440"/>
          </a:xfrm>
          <a:prstGeom prst="ellipse">
            <a:avLst/>
          </a:prstGeom>
          <a:solidFill>
            <a:srgbClr val="34C2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05256" y="639165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C646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brainrouter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C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653796"/>
            <a:ext cx="109728" cy="109728"/>
          </a:xfrm>
          <a:prstGeom prst="ellipse">
            <a:avLst/>
          </a:prstGeom>
          <a:solidFill>
            <a:srgbClr val="34C2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60120" y="55778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4C28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IT'S HARD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" y="1024128"/>
            <a:ext cx="10762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3300" b="1" dirty="0">
                <a:solidFill>
                  <a:srgbClr val="F4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Today's fixes don't scale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713232" y="2057400"/>
            <a:ext cx="3331464" cy="2514600"/>
          </a:xfrm>
          <a:prstGeom prst="roundRect">
            <a:avLst>
              <a:gd name="adj" fmla="val 4000"/>
            </a:avLst>
          </a:prstGeom>
          <a:solidFill>
            <a:srgbClr val="14181C"/>
          </a:solidFill>
          <a:ln w="12700">
            <a:solidFill>
              <a:srgbClr val="1E242A"/>
            </a:solidFill>
            <a:prstDash val="solid"/>
          </a:ln>
          <a:effectLst>
            <a:outerShdw blurRad="177800" dist="508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13232" y="2057400"/>
            <a:ext cx="3331464" cy="54864"/>
          </a:xfrm>
          <a:prstGeom prst="rect">
            <a:avLst/>
          </a:prstGeom>
          <a:solidFill>
            <a:srgbClr val="EF6F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24712" y="2487168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20100F"/>
          </a:solidFill>
          <a:ln w="15875">
            <a:solidFill>
              <a:srgbClr val="EF6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055" y="2671511"/>
            <a:ext cx="289682" cy="28968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24712" y="3364992"/>
            <a:ext cx="2599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F4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Dump the history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1124712" y="3822192"/>
            <a:ext cx="2554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A3A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Stuff every message into the prompt — it blows the context window and burns tokens.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428744" y="2057400"/>
            <a:ext cx="3331464" cy="2514600"/>
          </a:xfrm>
          <a:prstGeom prst="roundRect">
            <a:avLst>
              <a:gd name="adj" fmla="val 4000"/>
            </a:avLst>
          </a:prstGeom>
          <a:solidFill>
            <a:srgbClr val="14181C"/>
          </a:solidFill>
          <a:ln w="12700">
            <a:solidFill>
              <a:srgbClr val="1E242A"/>
            </a:solidFill>
            <a:prstDash val="solid"/>
          </a:ln>
          <a:effectLst>
            <a:outerShdw blurRad="177800" dist="508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428744" y="2057400"/>
            <a:ext cx="3331464" cy="54864"/>
          </a:xfrm>
          <a:prstGeom prst="rect">
            <a:avLst/>
          </a:prstGeom>
          <a:solidFill>
            <a:srgbClr val="EF6F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840224" y="2487168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20100F"/>
          </a:solidFill>
          <a:ln w="15875">
            <a:solidFill>
              <a:srgbClr val="EF6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4567" y="2671511"/>
            <a:ext cx="289682" cy="28968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840224" y="3364992"/>
            <a:ext cx="2599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F4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Flat vector DB</a:t>
            </a:r>
            <a:endParaRPr lang="en-US" sz="1850" dirty="0"/>
          </a:p>
        </p:txBody>
      </p:sp>
      <p:sp>
        <p:nvSpPr>
          <p:cNvPr id="16" name="Text 12"/>
          <p:cNvSpPr/>
          <p:nvPr/>
        </p:nvSpPr>
        <p:spPr>
          <a:xfrm>
            <a:off x="4840224" y="3822192"/>
            <a:ext cx="2554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A3A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Returns what's mathematically close, not what's useful. Noise in, noise out.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8144256" y="2057400"/>
            <a:ext cx="3331464" cy="2514600"/>
          </a:xfrm>
          <a:prstGeom prst="roundRect">
            <a:avLst>
              <a:gd name="adj" fmla="val 4000"/>
            </a:avLst>
          </a:prstGeom>
          <a:solidFill>
            <a:srgbClr val="14181C"/>
          </a:solidFill>
          <a:ln w="12700">
            <a:solidFill>
              <a:srgbClr val="1E242A"/>
            </a:solidFill>
            <a:prstDash val="solid"/>
          </a:ln>
          <a:effectLst>
            <a:outerShdw blurRad="177800" dist="508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8144256" y="2057400"/>
            <a:ext cx="3331464" cy="54864"/>
          </a:xfrm>
          <a:prstGeom prst="rect">
            <a:avLst/>
          </a:prstGeom>
          <a:solidFill>
            <a:srgbClr val="EF6F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8555736" y="2487168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20100F"/>
          </a:solidFill>
          <a:ln w="15875">
            <a:solidFill>
              <a:srgbClr val="EF6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0079" y="2671511"/>
            <a:ext cx="289682" cy="28968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555736" y="3364992"/>
            <a:ext cx="2599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F4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Static prompts</a:t>
            </a:r>
            <a:endParaRPr lang="en-US" sz="1850" dirty="0"/>
          </a:p>
        </p:txBody>
      </p:sp>
      <p:sp>
        <p:nvSpPr>
          <p:cNvPr id="22" name="Text 17"/>
          <p:cNvSpPr/>
          <p:nvPr/>
        </p:nvSpPr>
        <p:spPr>
          <a:xfrm>
            <a:off x="8555736" y="3822192"/>
            <a:ext cx="2554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A3A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Hand-written rules with no feedback loop. Nothing improves; the agent never learns.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713232" y="4956048"/>
            <a:ext cx="10762488" cy="676656"/>
          </a:xfrm>
          <a:prstGeom prst="roundRect">
            <a:avLst>
              <a:gd name="adj" fmla="val 14865"/>
            </a:avLst>
          </a:prstGeom>
          <a:solidFill>
            <a:srgbClr val="0F1F18"/>
          </a:solidFill>
          <a:ln w="12700">
            <a:solidFill>
              <a:srgbClr val="1E9E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713232" y="4956048"/>
            <a:ext cx="107624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34C28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result:   </a:t>
            </a:r>
            <a:r>
              <a:rPr lang="en-US" sz="1650" dirty="0">
                <a:solidFill>
                  <a:srgbClr val="F4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expensive, forgetful, and never improving.</a:t>
            </a:r>
            <a:endParaRPr lang="en-US" sz="1650" dirty="0"/>
          </a:p>
        </p:txBody>
      </p:sp>
      <p:sp>
        <p:nvSpPr>
          <p:cNvPr id="25" name="Shape 20"/>
          <p:cNvSpPr/>
          <p:nvPr/>
        </p:nvSpPr>
        <p:spPr>
          <a:xfrm>
            <a:off x="713232" y="6510528"/>
            <a:ext cx="91440" cy="91440"/>
          </a:xfrm>
          <a:prstGeom prst="ellipse">
            <a:avLst/>
          </a:prstGeom>
          <a:solidFill>
            <a:srgbClr val="34C2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905256" y="639165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C646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brainrouter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C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653796"/>
            <a:ext cx="109728" cy="109728"/>
          </a:xfrm>
          <a:prstGeom prst="ellipse">
            <a:avLst/>
          </a:prstGeom>
          <a:solidFill>
            <a:srgbClr val="34C2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60120" y="55778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4C28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INSIGHT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" y="1024128"/>
            <a:ext cx="10762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3300" b="1" dirty="0">
                <a:solidFill>
                  <a:srgbClr val="F4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memory like the brain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713232" y="17556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CD3D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Short-term feeds long-term. Unused facts fade. Used ones get reinforced.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13232" y="2606040"/>
            <a:ext cx="2286000" cy="1188720"/>
          </a:xfrm>
          <a:prstGeom prst="roundRect">
            <a:avLst>
              <a:gd name="adj" fmla="val 8462"/>
            </a:avLst>
          </a:prstGeom>
          <a:solidFill>
            <a:srgbClr val="14181C"/>
          </a:solidFill>
          <a:ln w="12700">
            <a:solidFill>
              <a:srgbClr val="262D34"/>
            </a:solidFill>
            <a:prstDash val="solid"/>
          </a:ln>
          <a:effectLst>
            <a:outerShdw blurRad="177800" dist="508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" y="260604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CCD3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Dialogue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 rot="5400000">
            <a:off x="3195828" y="3118104"/>
            <a:ext cx="146304" cy="164592"/>
          </a:xfrm>
          <a:prstGeom prst="triangle">
            <a:avLst/>
          </a:prstGeom>
          <a:solidFill>
            <a:srgbClr val="34C2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538728" y="2606040"/>
            <a:ext cx="2286000" cy="1188720"/>
          </a:xfrm>
          <a:prstGeom prst="roundRect">
            <a:avLst>
              <a:gd name="adj" fmla="val 8462"/>
            </a:avLst>
          </a:prstGeom>
          <a:solidFill>
            <a:srgbClr val="14181C"/>
          </a:solidFill>
          <a:ln w="12700">
            <a:solidFill>
              <a:srgbClr val="262D34"/>
            </a:solidFill>
            <a:prstDash val="solid"/>
          </a:ln>
          <a:effectLst>
            <a:outerShdw blurRad="177800" dist="508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38728" y="260604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CCD3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Short-term</a:t>
            </a:r>
            <a:endParaRPr lang="en-US" sz="1650" dirty="0"/>
          </a:p>
          <a:p>
            <a:pPr marL="0" indent="0" algn="ctr">
              <a:buNone/>
            </a:pPr>
            <a:r>
              <a:rPr lang="en-US" sz="1650" b="1" dirty="0">
                <a:solidFill>
                  <a:srgbClr val="CCD3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buffer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 rot="5400000">
            <a:off x="6021324" y="3118104"/>
            <a:ext cx="146304" cy="164592"/>
          </a:xfrm>
          <a:prstGeom prst="triangle">
            <a:avLst/>
          </a:prstGeom>
          <a:solidFill>
            <a:srgbClr val="34C2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364224" y="2606040"/>
            <a:ext cx="2286000" cy="1188720"/>
          </a:xfrm>
          <a:prstGeom prst="roundRect">
            <a:avLst>
              <a:gd name="adj" fmla="val 8462"/>
            </a:avLst>
          </a:prstGeom>
          <a:solidFill>
            <a:srgbClr val="0F1F18"/>
          </a:solidFill>
          <a:ln w="12700">
            <a:solidFill>
              <a:srgbClr val="1E9E73"/>
            </a:solidFill>
            <a:prstDash val="solid"/>
          </a:ln>
          <a:effectLst>
            <a:outerShdw blurRad="177800" dist="508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64224" y="260604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4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Long-term</a:t>
            </a:r>
            <a:endParaRPr lang="en-US" sz="1650" dirty="0"/>
          </a:p>
          <a:p>
            <a:pPr marL="0" indent="0" algn="ctr">
              <a:buNone/>
            </a:pPr>
            <a:r>
              <a:rPr lang="en-US" sz="1650" b="1" dirty="0">
                <a:solidFill>
                  <a:srgbClr val="F4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store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 rot="5400000">
            <a:off x="8846820" y="3118104"/>
            <a:ext cx="146304" cy="164592"/>
          </a:xfrm>
          <a:prstGeom prst="triangle">
            <a:avLst/>
          </a:prstGeom>
          <a:solidFill>
            <a:srgbClr val="34C2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189720" y="2606040"/>
            <a:ext cx="2286000" cy="1188720"/>
          </a:xfrm>
          <a:prstGeom prst="roundRect">
            <a:avLst>
              <a:gd name="adj" fmla="val 8462"/>
            </a:avLst>
          </a:prstGeom>
          <a:solidFill>
            <a:srgbClr val="0F1F18"/>
          </a:solidFill>
          <a:ln w="12700">
            <a:solidFill>
              <a:srgbClr val="1E9E73"/>
            </a:solidFill>
            <a:prstDash val="solid"/>
          </a:ln>
          <a:effectLst>
            <a:outerShdw blurRad="177800" dist="508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89720" y="260604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4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Identity +</a:t>
            </a:r>
            <a:endParaRPr lang="en-US" sz="1650" dirty="0"/>
          </a:p>
          <a:p>
            <a:pPr marL="0" indent="0" algn="ctr">
              <a:buNone/>
            </a:pPr>
            <a:r>
              <a:rPr lang="en-US" sz="1650" b="1" dirty="0">
                <a:solidFill>
                  <a:srgbClr val="F4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active task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713232" y="4709160"/>
            <a:ext cx="3331464" cy="1024128"/>
          </a:xfrm>
          <a:prstGeom prst="roundRect">
            <a:avLst>
              <a:gd name="adj" fmla="val 9821"/>
            </a:avLst>
          </a:prstGeom>
          <a:solidFill>
            <a:srgbClr val="14181C"/>
          </a:solidFill>
          <a:ln w="12700">
            <a:solidFill>
              <a:srgbClr val="1E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005840" y="4956048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0F1F18"/>
          </a:solidFill>
          <a:ln w="15875">
            <a:solidFill>
              <a:srgbClr val="34C2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339" y="5104547"/>
            <a:ext cx="233355" cy="233355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673352" y="4937760"/>
            <a:ext cx="2234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4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Decay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1673352" y="5248656"/>
            <a:ext cx="2234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3A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Unused facts fade away.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428744" y="4709160"/>
            <a:ext cx="3331464" cy="1024128"/>
          </a:xfrm>
          <a:prstGeom prst="roundRect">
            <a:avLst>
              <a:gd name="adj" fmla="val 9821"/>
            </a:avLst>
          </a:prstGeom>
          <a:solidFill>
            <a:srgbClr val="14181C"/>
          </a:solidFill>
          <a:ln w="12700">
            <a:solidFill>
              <a:srgbClr val="1E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4721352" y="4956048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0F1F18"/>
          </a:solidFill>
          <a:ln w="15875">
            <a:solidFill>
              <a:srgbClr val="34C2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9851" y="5104547"/>
            <a:ext cx="233355" cy="233355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388864" y="4937760"/>
            <a:ext cx="2234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4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Reinforcement</a:t>
            </a:r>
            <a:endParaRPr lang="en-US" sz="1450" dirty="0"/>
          </a:p>
        </p:txBody>
      </p:sp>
      <p:sp>
        <p:nvSpPr>
          <p:cNvPr id="26" name="Text 22"/>
          <p:cNvSpPr/>
          <p:nvPr/>
        </p:nvSpPr>
        <p:spPr>
          <a:xfrm>
            <a:off x="5388864" y="5248656"/>
            <a:ext cx="2234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3A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Used facts grow stronger.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8144256" y="4709160"/>
            <a:ext cx="3331464" cy="1024128"/>
          </a:xfrm>
          <a:prstGeom prst="roundRect">
            <a:avLst>
              <a:gd name="adj" fmla="val 9821"/>
            </a:avLst>
          </a:prstGeom>
          <a:solidFill>
            <a:srgbClr val="14181C"/>
          </a:solidFill>
          <a:ln w="12700">
            <a:solidFill>
              <a:srgbClr val="1E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8436864" y="4956048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0F1F18"/>
          </a:solidFill>
          <a:ln w="15875">
            <a:solidFill>
              <a:srgbClr val="34C2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5363" y="5104547"/>
            <a:ext cx="233355" cy="233355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9104376" y="4937760"/>
            <a:ext cx="2234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4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</a:t>
            </a:r>
            <a:endParaRPr lang="en-US" sz="1450" dirty="0"/>
          </a:p>
        </p:txBody>
      </p:sp>
      <p:sp>
        <p:nvSpPr>
          <p:cNvPr id="31" name="Text 26"/>
          <p:cNvSpPr/>
          <p:nvPr/>
        </p:nvSpPr>
        <p:spPr>
          <a:xfrm>
            <a:off x="9104376" y="5248656"/>
            <a:ext cx="2234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3A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Related facts stay linked.</a:t>
            </a:r>
            <a:endParaRPr lang="en-US" sz="1150" dirty="0"/>
          </a:p>
        </p:txBody>
      </p:sp>
      <p:sp>
        <p:nvSpPr>
          <p:cNvPr id="32" name="Shape 27"/>
          <p:cNvSpPr/>
          <p:nvPr/>
        </p:nvSpPr>
        <p:spPr>
          <a:xfrm>
            <a:off x="713232" y="6510528"/>
            <a:ext cx="91440" cy="91440"/>
          </a:xfrm>
          <a:prstGeom prst="ellipse">
            <a:avLst/>
          </a:prstGeom>
          <a:solidFill>
            <a:srgbClr val="34C2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8"/>
          <p:cNvSpPr/>
          <p:nvPr/>
        </p:nvSpPr>
        <p:spPr>
          <a:xfrm>
            <a:off x="905256" y="639165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C646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brainrouter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C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653796"/>
            <a:ext cx="109728" cy="109728"/>
          </a:xfrm>
          <a:prstGeom prst="ellipse">
            <a:avLst/>
          </a:prstGeom>
          <a:solidFill>
            <a:srgbClr val="34C2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60120" y="55778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4C28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BUILT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" y="1024128"/>
            <a:ext cx="10762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3300" b="1" dirty="0">
                <a:solidFill>
                  <a:srgbClr val="F4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cognitive memory engine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713232" y="17556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CD3D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Four layers, each with its own lifetime — short-term feeds long-term; the rest persist or evict based on activity.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13232" y="2423160"/>
            <a:ext cx="2471166" cy="2880360"/>
          </a:xfrm>
          <a:prstGeom prst="roundRect">
            <a:avLst>
              <a:gd name="adj" fmla="val 4070"/>
            </a:avLst>
          </a:prstGeom>
          <a:solidFill>
            <a:srgbClr val="14181C"/>
          </a:solidFill>
          <a:ln w="12700">
            <a:solidFill>
              <a:srgbClr val="262D34"/>
            </a:solidFill>
            <a:prstDash val="solid"/>
          </a:ln>
          <a:effectLst>
            <a:outerShdw blurRad="177800" dist="508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24128" y="2788920"/>
            <a:ext cx="676656" cy="676656"/>
          </a:xfrm>
          <a:prstGeom prst="roundRect">
            <a:avLst>
              <a:gd name="adj" fmla="val 13514"/>
            </a:avLst>
          </a:prstGeom>
          <a:solidFill>
            <a:srgbClr val="0F1F18"/>
          </a:solidFill>
          <a:ln w="15875">
            <a:solidFill>
              <a:srgbClr val="34C2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3592" y="2978384"/>
            <a:ext cx="297729" cy="29772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24128" y="3703320"/>
            <a:ext cx="20139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50" b="1" dirty="0">
                <a:solidFill>
                  <a:srgbClr val="F4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SensoryStream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024128" y="4251960"/>
            <a:ext cx="196824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AA3A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Raw dialogue buffer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024128" y="4754880"/>
            <a:ext cx="1849374" cy="347472"/>
          </a:xfrm>
          <a:prstGeom prst="roundRect">
            <a:avLst>
              <a:gd name="adj" fmla="val 50000"/>
            </a:avLst>
          </a:prstGeom>
          <a:solidFill>
            <a:srgbClr val="0F1F18"/>
          </a:solidFill>
          <a:ln w="12700">
            <a:solidFill>
              <a:srgbClr val="1E9E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24128" y="4745736"/>
            <a:ext cx="18493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34C28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Transient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477006" y="2423160"/>
            <a:ext cx="2471166" cy="2880360"/>
          </a:xfrm>
          <a:prstGeom prst="roundRect">
            <a:avLst>
              <a:gd name="adj" fmla="val 4070"/>
            </a:avLst>
          </a:prstGeom>
          <a:solidFill>
            <a:srgbClr val="14181C"/>
          </a:solidFill>
          <a:ln w="12700">
            <a:solidFill>
              <a:srgbClr val="262D34"/>
            </a:solidFill>
            <a:prstDash val="solid"/>
          </a:ln>
          <a:effectLst>
            <a:outerShdw blurRad="177800" dist="508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3787902" y="2788920"/>
            <a:ext cx="676656" cy="676656"/>
          </a:xfrm>
          <a:prstGeom prst="roundRect">
            <a:avLst>
              <a:gd name="adj" fmla="val 13514"/>
            </a:avLst>
          </a:prstGeom>
          <a:solidFill>
            <a:srgbClr val="0F1F18"/>
          </a:solidFill>
          <a:ln w="15875">
            <a:solidFill>
              <a:srgbClr val="34C2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7366" y="2978384"/>
            <a:ext cx="297729" cy="297729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787902" y="3703320"/>
            <a:ext cx="20139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50" b="1" dirty="0">
                <a:solidFill>
                  <a:srgbClr val="F4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CognitiveRecord</a:t>
            </a:r>
            <a:endParaRPr lang="en-US" sz="1650" dirty="0"/>
          </a:p>
        </p:txBody>
      </p:sp>
      <p:sp>
        <p:nvSpPr>
          <p:cNvPr id="17" name="Text 13"/>
          <p:cNvSpPr/>
          <p:nvPr/>
        </p:nvSpPr>
        <p:spPr>
          <a:xfrm>
            <a:off x="3787902" y="4251960"/>
            <a:ext cx="196824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AA3A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Classified facts that decay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3787902" y="4754880"/>
            <a:ext cx="1849374" cy="347472"/>
          </a:xfrm>
          <a:prstGeom prst="roundRect">
            <a:avLst>
              <a:gd name="adj" fmla="val 50000"/>
            </a:avLst>
          </a:prstGeom>
          <a:solidFill>
            <a:srgbClr val="0F1F18"/>
          </a:solidFill>
          <a:ln w="12700">
            <a:solidFill>
              <a:srgbClr val="1E9E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3787902" y="4745736"/>
            <a:ext cx="18493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34C28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Long-term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6240780" y="2423160"/>
            <a:ext cx="2471166" cy="2880360"/>
          </a:xfrm>
          <a:prstGeom prst="roundRect">
            <a:avLst>
              <a:gd name="adj" fmla="val 4070"/>
            </a:avLst>
          </a:prstGeom>
          <a:solidFill>
            <a:srgbClr val="14181C"/>
          </a:solidFill>
          <a:ln w="12700">
            <a:solidFill>
              <a:srgbClr val="262D34"/>
            </a:solidFill>
            <a:prstDash val="solid"/>
          </a:ln>
          <a:effectLst>
            <a:outerShdw blurRad="177800" dist="508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6551676" y="2788920"/>
            <a:ext cx="676656" cy="676656"/>
          </a:xfrm>
          <a:prstGeom prst="roundRect">
            <a:avLst>
              <a:gd name="adj" fmla="val 13514"/>
            </a:avLst>
          </a:prstGeom>
          <a:solidFill>
            <a:srgbClr val="0F1F18"/>
          </a:solidFill>
          <a:ln w="15875">
            <a:solidFill>
              <a:srgbClr val="34C2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1140" y="2978384"/>
            <a:ext cx="297729" cy="297729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551676" y="3703320"/>
            <a:ext cx="20139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50" b="1" dirty="0">
                <a:solidFill>
                  <a:srgbClr val="F4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ContextualFocus</a:t>
            </a:r>
            <a:endParaRPr lang="en-US" sz="1650" dirty="0"/>
          </a:p>
        </p:txBody>
      </p:sp>
      <p:sp>
        <p:nvSpPr>
          <p:cNvPr id="24" name="Text 19"/>
          <p:cNvSpPr/>
          <p:nvPr/>
        </p:nvSpPr>
        <p:spPr>
          <a:xfrm>
            <a:off x="6551676" y="4251960"/>
            <a:ext cx="196824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AA3A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Heat-scored task scenes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6551676" y="4754880"/>
            <a:ext cx="1849374" cy="347472"/>
          </a:xfrm>
          <a:prstGeom prst="roundRect">
            <a:avLst>
              <a:gd name="adj" fmla="val 50000"/>
            </a:avLst>
          </a:prstGeom>
          <a:solidFill>
            <a:srgbClr val="0F1F18"/>
          </a:solidFill>
          <a:ln w="12700">
            <a:solidFill>
              <a:srgbClr val="1E9E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6551676" y="4745736"/>
            <a:ext cx="18493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34C28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Medium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9004554" y="2423160"/>
            <a:ext cx="2471166" cy="2880360"/>
          </a:xfrm>
          <a:prstGeom prst="roundRect">
            <a:avLst>
              <a:gd name="adj" fmla="val 4070"/>
            </a:avLst>
          </a:prstGeom>
          <a:solidFill>
            <a:srgbClr val="14181C"/>
          </a:solidFill>
          <a:ln w="12700">
            <a:solidFill>
              <a:srgbClr val="262D34"/>
            </a:solidFill>
            <a:prstDash val="solid"/>
          </a:ln>
          <a:effectLst>
            <a:outerShdw blurRad="177800" dist="508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9315450" y="2788920"/>
            <a:ext cx="676656" cy="676656"/>
          </a:xfrm>
          <a:prstGeom prst="roundRect">
            <a:avLst>
              <a:gd name="adj" fmla="val 13514"/>
            </a:avLst>
          </a:prstGeom>
          <a:solidFill>
            <a:srgbClr val="0F1F18"/>
          </a:solidFill>
          <a:ln w="15875">
            <a:solidFill>
              <a:srgbClr val="34C2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4914" y="2978384"/>
            <a:ext cx="297729" cy="297729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315450" y="3703320"/>
            <a:ext cx="20139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50" b="1" dirty="0">
                <a:solidFill>
                  <a:srgbClr val="F4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CoreIdentity</a:t>
            </a:r>
            <a:endParaRPr lang="en-US" sz="1650" dirty="0"/>
          </a:p>
        </p:txBody>
      </p:sp>
      <p:sp>
        <p:nvSpPr>
          <p:cNvPr id="31" name="Text 25"/>
          <p:cNvSpPr/>
          <p:nvPr/>
        </p:nvSpPr>
        <p:spPr>
          <a:xfrm>
            <a:off x="9315450" y="4251960"/>
            <a:ext cx="196824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AA3A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Profile + hard rules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9315450" y="4754880"/>
            <a:ext cx="1849374" cy="347472"/>
          </a:xfrm>
          <a:prstGeom prst="roundRect">
            <a:avLst>
              <a:gd name="adj" fmla="val 50000"/>
            </a:avLst>
          </a:prstGeom>
          <a:solidFill>
            <a:srgbClr val="0F1F18"/>
          </a:solidFill>
          <a:ln w="12700">
            <a:solidFill>
              <a:srgbClr val="1E9E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/>
          <p:nvPr/>
        </p:nvSpPr>
        <p:spPr>
          <a:xfrm>
            <a:off x="9315450" y="4745736"/>
            <a:ext cx="18493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34C28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Permanent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713232" y="6510528"/>
            <a:ext cx="91440" cy="91440"/>
          </a:xfrm>
          <a:prstGeom prst="ellipse">
            <a:avLst/>
          </a:prstGeom>
          <a:solidFill>
            <a:srgbClr val="34C2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29"/>
          <p:cNvSpPr/>
          <p:nvPr/>
        </p:nvSpPr>
        <p:spPr>
          <a:xfrm>
            <a:off x="905256" y="639165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C646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brainrouter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C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653796"/>
            <a:ext cx="109728" cy="109728"/>
          </a:xfrm>
          <a:prstGeom prst="ellipse">
            <a:avLst/>
          </a:prstGeom>
          <a:solidFill>
            <a:srgbClr val="34C2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60120" y="55778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4C28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RECALL WORKS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" y="1024128"/>
            <a:ext cx="10762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3300" b="1" dirty="0">
                <a:solidFill>
                  <a:srgbClr val="F4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right memories, on every prompt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713232" y="2468880"/>
            <a:ext cx="1580388" cy="1371600"/>
          </a:xfrm>
          <a:prstGeom prst="roundRect">
            <a:avLst>
              <a:gd name="adj" fmla="val 7333"/>
            </a:avLst>
          </a:prstGeom>
          <a:solidFill>
            <a:srgbClr val="14181C"/>
          </a:solidFill>
          <a:ln w="12700">
            <a:solidFill>
              <a:srgbClr val="262D34"/>
            </a:solidFill>
            <a:prstDash val="solid"/>
          </a:ln>
          <a:effectLst>
            <a:outerShdw blurRad="177800" dist="508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58952" y="2743200"/>
            <a:ext cx="14889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34C28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Query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86384" y="3218688"/>
            <a:ext cx="14340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9AA3A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what's asked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 rot="5400000">
            <a:off x="2348484" y="3072384"/>
            <a:ext cx="146304" cy="164592"/>
          </a:xfrm>
          <a:prstGeom prst="triangle">
            <a:avLst/>
          </a:prstGeom>
          <a:solidFill>
            <a:srgbClr val="34C2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49652" y="2468880"/>
            <a:ext cx="1580388" cy="1371600"/>
          </a:xfrm>
          <a:prstGeom prst="roundRect">
            <a:avLst>
              <a:gd name="adj" fmla="val 7333"/>
            </a:avLst>
          </a:prstGeom>
          <a:solidFill>
            <a:srgbClr val="14181C"/>
          </a:solidFill>
          <a:ln w="12700">
            <a:solidFill>
              <a:srgbClr val="262D34"/>
            </a:solidFill>
            <a:prstDash val="solid"/>
          </a:ln>
          <a:effectLst>
            <a:outerShdw blurRad="177800" dist="508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95372" y="2743200"/>
            <a:ext cx="14889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34C28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Retrieve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2622804" y="3218688"/>
            <a:ext cx="14340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9AA3A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keyword · vector · path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 rot="5400000">
            <a:off x="4184904" y="3072384"/>
            <a:ext cx="146304" cy="164592"/>
          </a:xfrm>
          <a:prstGeom prst="triangle">
            <a:avLst/>
          </a:prstGeom>
          <a:solidFill>
            <a:srgbClr val="34C2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386072" y="2468880"/>
            <a:ext cx="1580388" cy="1371600"/>
          </a:xfrm>
          <a:prstGeom prst="roundRect">
            <a:avLst>
              <a:gd name="adj" fmla="val 7333"/>
            </a:avLst>
          </a:prstGeom>
          <a:solidFill>
            <a:srgbClr val="14181C"/>
          </a:solidFill>
          <a:ln w="12700">
            <a:solidFill>
              <a:srgbClr val="262D34"/>
            </a:solidFill>
            <a:prstDash val="solid"/>
          </a:ln>
          <a:effectLst>
            <a:outerShdw blurRad="177800" dist="508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431792" y="2743200"/>
            <a:ext cx="14889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34C28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Fuse &amp; rank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459224" y="3218688"/>
            <a:ext cx="14340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9AA3A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decay · freshness · use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 rot="5400000">
            <a:off x="6021324" y="3072384"/>
            <a:ext cx="146304" cy="164592"/>
          </a:xfrm>
          <a:prstGeom prst="triangle">
            <a:avLst/>
          </a:prstGeom>
          <a:solidFill>
            <a:srgbClr val="34C2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22492" y="2468880"/>
            <a:ext cx="1580388" cy="1371600"/>
          </a:xfrm>
          <a:prstGeom prst="roundRect">
            <a:avLst>
              <a:gd name="adj" fmla="val 7333"/>
            </a:avLst>
          </a:prstGeom>
          <a:solidFill>
            <a:srgbClr val="14181C"/>
          </a:solidFill>
          <a:ln w="12700">
            <a:solidFill>
              <a:srgbClr val="262D34"/>
            </a:solidFill>
            <a:prstDash val="solid"/>
          </a:ln>
          <a:effectLst>
            <a:outerShdw blurRad="177800" dist="508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68212" y="2743200"/>
            <a:ext cx="14889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34C28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Judge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295644" y="3218688"/>
            <a:ext cx="14340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9AA3A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drop off-topic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 rot="5400000">
            <a:off x="7857744" y="3072384"/>
            <a:ext cx="146304" cy="164592"/>
          </a:xfrm>
          <a:prstGeom prst="triangle">
            <a:avLst/>
          </a:prstGeom>
          <a:solidFill>
            <a:srgbClr val="34C2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058912" y="2468880"/>
            <a:ext cx="1580388" cy="1371600"/>
          </a:xfrm>
          <a:prstGeom prst="roundRect">
            <a:avLst>
              <a:gd name="adj" fmla="val 7333"/>
            </a:avLst>
          </a:prstGeom>
          <a:solidFill>
            <a:srgbClr val="14181C"/>
          </a:solidFill>
          <a:ln w="12700">
            <a:solidFill>
              <a:srgbClr val="262D34"/>
            </a:solidFill>
            <a:prstDash val="solid"/>
          </a:ln>
          <a:effectLst>
            <a:outerShdw blurRad="177800" dist="508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104632" y="2743200"/>
            <a:ext cx="14889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34C28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 walk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132064" y="3218688"/>
            <a:ext cx="14340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9AA3A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pull related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 rot="5400000">
            <a:off x="9694164" y="3072384"/>
            <a:ext cx="146304" cy="164592"/>
          </a:xfrm>
          <a:prstGeom prst="triangle">
            <a:avLst/>
          </a:prstGeom>
          <a:solidFill>
            <a:srgbClr val="34C2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895332" y="2468880"/>
            <a:ext cx="1580388" cy="1371600"/>
          </a:xfrm>
          <a:prstGeom prst="roundRect">
            <a:avLst>
              <a:gd name="adj" fmla="val 7333"/>
            </a:avLst>
          </a:prstGeom>
          <a:solidFill>
            <a:srgbClr val="0F1F18"/>
          </a:solidFill>
          <a:ln w="12700">
            <a:solidFill>
              <a:srgbClr val="34C28E"/>
            </a:solidFill>
            <a:prstDash val="solid"/>
          </a:ln>
          <a:effectLst>
            <a:outerShdw blurRad="177800" dist="508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941052" y="2743200"/>
            <a:ext cx="14889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4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9968484" y="3218688"/>
            <a:ext cx="14340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9AA3A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only what matters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13232" y="4434840"/>
            <a:ext cx="10762488" cy="1188720"/>
          </a:xfrm>
          <a:prstGeom prst="roundRect">
            <a:avLst>
              <a:gd name="adj" fmla="val 8462"/>
            </a:avLst>
          </a:prstGeom>
          <a:solidFill>
            <a:srgbClr val="11161A"/>
          </a:solidFill>
          <a:ln w="12700">
            <a:solidFill>
              <a:srgbClr val="1E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216152" y="4617720"/>
            <a:ext cx="9756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4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retrievers fused. A judge filters. The graph connects.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1216152" y="5102352"/>
            <a:ext cx="9756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3A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Only what's relevant reaches the prompt — a sliver of the context, never the whole history.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13232" y="6510528"/>
            <a:ext cx="91440" cy="91440"/>
          </a:xfrm>
          <a:prstGeom prst="ellipse">
            <a:avLst/>
          </a:prstGeom>
          <a:solidFill>
            <a:srgbClr val="34C2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05256" y="639165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C646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brainrouter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C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653796"/>
            <a:ext cx="109728" cy="109728"/>
          </a:xfrm>
          <a:prstGeom prst="ellipse">
            <a:avLst/>
          </a:prstGeom>
          <a:solidFill>
            <a:srgbClr val="34C2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60120" y="55778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4C28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IT'S DIFFERENT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" y="1024128"/>
            <a:ext cx="10762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3300" b="1" dirty="0">
                <a:solidFill>
                  <a:srgbClr val="F4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doesn't just store — it learns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713232" y="1783080"/>
            <a:ext cx="10762488" cy="987552"/>
          </a:xfrm>
          <a:prstGeom prst="roundRect">
            <a:avLst>
              <a:gd name="adj" fmla="val 10185"/>
            </a:avLst>
          </a:prstGeom>
          <a:solidFill>
            <a:srgbClr val="14181C"/>
          </a:solidFill>
          <a:ln w="12700">
            <a:solidFill>
              <a:srgbClr val="1E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97280" y="199339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F1F18"/>
          </a:solidFill>
          <a:ln w="15875">
            <a:solidFill>
              <a:srgbClr val="34C2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6020" y="2152132"/>
            <a:ext cx="249448" cy="2494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20240" y="1783080"/>
            <a:ext cx="2468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F4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forgets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4507992" y="1984248"/>
            <a:ext cx="0" cy="585216"/>
          </a:xfrm>
          <a:prstGeom prst="line">
            <a:avLst/>
          </a:prstGeom>
          <a:noFill/>
          <a:ln w="12700">
            <a:solidFill>
              <a:srgbClr val="262D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828032" y="1783080"/>
            <a:ext cx="628192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CD3D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Memories fade on a half-life. Instructions stay forever; code facts fade faster than who you are.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13232" y="2935224"/>
            <a:ext cx="10762488" cy="987552"/>
          </a:xfrm>
          <a:prstGeom prst="roundRect">
            <a:avLst>
              <a:gd name="adj" fmla="val 10185"/>
            </a:avLst>
          </a:prstGeom>
          <a:solidFill>
            <a:srgbClr val="14181C"/>
          </a:solidFill>
          <a:ln w="12700">
            <a:solidFill>
              <a:srgbClr val="1E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097280" y="3145536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F1F18"/>
          </a:solidFill>
          <a:ln w="15875">
            <a:solidFill>
              <a:srgbClr val="34C2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6020" y="3304276"/>
            <a:ext cx="249448" cy="2494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920240" y="2935224"/>
            <a:ext cx="2468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F4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reinforces</a:t>
            </a:r>
            <a:endParaRPr lang="en-US" sz="1750" dirty="0"/>
          </a:p>
        </p:txBody>
      </p:sp>
      <p:sp>
        <p:nvSpPr>
          <p:cNvPr id="15" name="Shape 11"/>
          <p:cNvSpPr/>
          <p:nvPr/>
        </p:nvSpPr>
        <p:spPr>
          <a:xfrm>
            <a:off x="4507992" y="3136392"/>
            <a:ext cx="0" cy="585216"/>
          </a:xfrm>
          <a:prstGeom prst="line">
            <a:avLst/>
          </a:prstGeom>
          <a:noFill/>
          <a:ln w="12700">
            <a:solidFill>
              <a:srgbClr val="262D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4828032" y="2935224"/>
            <a:ext cx="628192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CD3D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When the agent uses a memory, that memory gets stronger — and its decay clock resets.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713232" y="4087368"/>
            <a:ext cx="10762488" cy="987552"/>
          </a:xfrm>
          <a:prstGeom prst="roundRect">
            <a:avLst>
              <a:gd name="adj" fmla="val 10185"/>
            </a:avLst>
          </a:prstGeom>
          <a:solidFill>
            <a:srgbClr val="14181C"/>
          </a:solidFill>
          <a:ln w="12700">
            <a:solidFill>
              <a:srgbClr val="1E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1097280" y="42976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F1F18"/>
          </a:solidFill>
          <a:ln w="15875">
            <a:solidFill>
              <a:srgbClr val="34C2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6020" y="4456420"/>
            <a:ext cx="249448" cy="2494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920240" y="4087368"/>
            <a:ext cx="2468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F4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judges</a:t>
            </a:r>
            <a:endParaRPr lang="en-US" sz="1750" dirty="0"/>
          </a:p>
        </p:txBody>
      </p:sp>
      <p:sp>
        <p:nvSpPr>
          <p:cNvPr id="21" name="Shape 16"/>
          <p:cNvSpPr/>
          <p:nvPr/>
        </p:nvSpPr>
        <p:spPr>
          <a:xfrm>
            <a:off x="4507992" y="4288536"/>
            <a:ext cx="0" cy="585216"/>
          </a:xfrm>
          <a:prstGeom prst="line">
            <a:avLst/>
          </a:prstGeom>
          <a:noFill/>
          <a:ln w="12700">
            <a:solidFill>
              <a:srgbClr val="262D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4828032" y="4087368"/>
            <a:ext cx="628192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CD3D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An LLM relevance check drops keyword-matches that aren't actually on topic.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713232" y="5239512"/>
            <a:ext cx="10762488" cy="987552"/>
          </a:xfrm>
          <a:prstGeom prst="roundRect">
            <a:avLst>
              <a:gd name="adj" fmla="val 10185"/>
            </a:avLst>
          </a:prstGeom>
          <a:solidFill>
            <a:srgbClr val="14181C"/>
          </a:solidFill>
          <a:ln w="12700">
            <a:solidFill>
              <a:srgbClr val="1E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1097280" y="5449824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F1F18"/>
          </a:solidFill>
          <a:ln w="15875">
            <a:solidFill>
              <a:srgbClr val="34C2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6020" y="5608564"/>
            <a:ext cx="249448" cy="24944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920240" y="5239512"/>
            <a:ext cx="2468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F4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connects</a:t>
            </a:r>
            <a:endParaRPr lang="en-US" sz="1750" dirty="0"/>
          </a:p>
        </p:txBody>
      </p:sp>
      <p:sp>
        <p:nvSpPr>
          <p:cNvPr id="27" name="Shape 21"/>
          <p:cNvSpPr/>
          <p:nvPr/>
        </p:nvSpPr>
        <p:spPr>
          <a:xfrm>
            <a:off x="4507992" y="5440680"/>
            <a:ext cx="0" cy="585216"/>
          </a:xfrm>
          <a:prstGeom prst="line">
            <a:avLst/>
          </a:prstGeom>
          <a:noFill/>
          <a:ln w="12700">
            <a:solidFill>
              <a:srgbClr val="262D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2"/>
          <p:cNvSpPr/>
          <p:nvPr/>
        </p:nvSpPr>
        <p:spPr>
          <a:xfrm>
            <a:off x="4828032" y="5239512"/>
            <a:ext cx="628192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CD3D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 graph walk surfaces related facts plain keyword or vector search would never reach.</a:t>
            </a:r>
            <a:endParaRPr 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713232" y="6510528"/>
            <a:ext cx="91440" cy="91440"/>
          </a:xfrm>
          <a:prstGeom prst="ellipse">
            <a:avLst/>
          </a:prstGeom>
          <a:solidFill>
            <a:srgbClr val="34C2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905256" y="639165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C646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brainrouter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C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653796"/>
            <a:ext cx="109728" cy="109728"/>
          </a:xfrm>
          <a:prstGeom prst="ellipse">
            <a:avLst/>
          </a:prstGeom>
          <a:solidFill>
            <a:srgbClr val="34C2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60120" y="55778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4C28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PAYOFF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" y="1024128"/>
            <a:ext cx="10762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3300" b="1" dirty="0">
                <a:solidFill>
                  <a:srgbClr val="F4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that buys you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713232" y="2148840"/>
            <a:ext cx="2471166" cy="2651760"/>
          </a:xfrm>
          <a:prstGeom prst="roundRect">
            <a:avLst>
              <a:gd name="adj" fmla="val 4070"/>
            </a:avLst>
          </a:prstGeom>
          <a:solidFill>
            <a:srgbClr val="14181C"/>
          </a:solidFill>
          <a:ln w="12700">
            <a:solidFill>
              <a:srgbClr val="262D34"/>
            </a:solidFill>
            <a:prstDash val="solid"/>
          </a:ln>
          <a:effectLst>
            <a:outerShdw blurRad="177800" dist="508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24128" y="2514600"/>
            <a:ext cx="676656" cy="676656"/>
          </a:xfrm>
          <a:prstGeom prst="roundRect">
            <a:avLst>
              <a:gd name="adj" fmla="val 13514"/>
            </a:avLst>
          </a:prstGeom>
          <a:solidFill>
            <a:srgbClr val="0F1F18"/>
          </a:solidFill>
          <a:ln w="15875">
            <a:solidFill>
              <a:srgbClr val="34C2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3592" y="2704064"/>
            <a:ext cx="297729" cy="29772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4128" y="3429000"/>
            <a:ext cx="20139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F4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Fewer tokens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24128" y="3977640"/>
            <a:ext cx="196824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9AA3A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 sliver of the context — not the whole history every time.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77006" y="2148840"/>
            <a:ext cx="2471166" cy="2651760"/>
          </a:xfrm>
          <a:prstGeom prst="roundRect">
            <a:avLst>
              <a:gd name="adj" fmla="val 4070"/>
            </a:avLst>
          </a:prstGeom>
          <a:solidFill>
            <a:srgbClr val="14181C"/>
          </a:solidFill>
          <a:ln w="12700">
            <a:solidFill>
              <a:srgbClr val="262D34"/>
            </a:solidFill>
            <a:prstDash val="solid"/>
          </a:ln>
          <a:effectLst>
            <a:outerShdw blurRad="177800" dist="508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787902" y="2514600"/>
            <a:ext cx="676656" cy="676656"/>
          </a:xfrm>
          <a:prstGeom prst="roundRect">
            <a:avLst>
              <a:gd name="adj" fmla="val 13514"/>
            </a:avLst>
          </a:prstGeom>
          <a:solidFill>
            <a:srgbClr val="0F1F18"/>
          </a:solidFill>
          <a:ln w="15875">
            <a:solidFill>
              <a:srgbClr val="34C2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7366" y="2704064"/>
            <a:ext cx="297729" cy="29772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87902" y="3429000"/>
            <a:ext cx="20139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F4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Faster replies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3787902" y="3977640"/>
            <a:ext cx="196824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9AA3A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Less for the model to read means quicker answers.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240780" y="2148840"/>
            <a:ext cx="2471166" cy="2651760"/>
          </a:xfrm>
          <a:prstGeom prst="roundRect">
            <a:avLst>
              <a:gd name="adj" fmla="val 4070"/>
            </a:avLst>
          </a:prstGeom>
          <a:solidFill>
            <a:srgbClr val="14181C"/>
          </a:solidFill>
          <a:ln w="12700">
            <a:solidFill>
              <a:srgbClr val="262D34"/>
            </a:solidFill>
            <a:prstDash val="solid"/>
          </a:ln>
          <a:effectLst>
            <a:outerShdw blurRad="177800" dist="508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551676" y="2514600"/>
            <a:ext cx="676656" cy="676656"/>
          </a:xfrm>
          <a:prstGeom prst="roundRect">
            <a:avLst>
              <a:gd name="adj" fmla="val 13514"/>
            </a:avLst>
          </a:prstGeom>
          <a:solidFill>
            <a:srgbClr val="0F1F18"/>
          </a:solidFill>
          <a:ln w="15875">
            <a:solidFill>
              <a:srgbClr val="34C2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1140" y="2704064"/>
            <a:ext cx="297729" cy="29772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51676" y="3429000"/>
            <a:ext cx="20139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F4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Sharper recall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551676" y="3977640"/>
            <a:ext cx="196824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9AA3A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right memory surfaces — nearly every time.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9004554" y="2148840"/>
            <a:ext cx="2471166" cy="2651760"/>
          </a:xfrm>
          <a:prstGeom prst="roundRect">
            <a:avLst>
              <a:gd name="adj" fmla="val 4070"/>
            </a:avLst>
          </a:prstGeom>
          <a:solidFill>
            <a:srgbClr val="14181C"/>
          </a:solidFill>
          <a:ln w="12700">
            <a:solidFill>
              <a:srgbClr val="262D34"/>
            </a:solidFill>
            <a:prstDash val="solid"/>
          </a:ln>
          <a:effectLst>
            <a:outerShdw blurRad="177800" dist="508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9315450" y="2514600"/>
            <a:ext cx="676656" cy="676656"/>
          </a:xfrm>
          <a:prstGeom prst="roundRect">
            <a:avLst>
              <a:gd name="adj" fmla="val 13514"/>
            </a:avLst>
          </a:prstGeom>
          <a:solidFill>
            <a:srgbClr val="0F1F18"/>
          </a:solidFill>
          <a:ln w="15875">
            <a:solidFill>
              <a:srgbClr val="34C2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4914" y="2704064"/>
            <a:ext cx="297729" cy="29772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15450" y="3429000"/>
            <a:ext cx="20139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F4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Flat cost at scale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9315450" y="3977640"/>
            <a:ext cx="196824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9AA3A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Spend stays steady as the agent remembers more.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713232" y="5029200"/>
            <a:ext cx="1076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4C28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Benchmarked, reproducible, and open — the proof is ready when you are.</a:t>
            </a:r>
            <a:endParaRPr lang="en-US" sz="1350" dirty="0"/>
          </a:p>
        </p:txBody>
      </p:sp>
      <p:sp>
        <p:nvSpPr>
          <p:cNvPr id="26" name="Shape 20"/>
          <p:cNvSpPr/>
          <p:nvPr/>
        </p:nvSpPr>
        <p:spPr>
          <a:xfrm>
            <a:off x="713232" y="6510528"/>
            <a:ext cx="91440" cy="91440"/>
          </a:xfrm>
          <a:prstGeom prst="ellipse">
            <a:avLst/>
          </a:prstGeom>
          <a:solidFill>
            <a:srgbClr val="34C2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/>
          <p:nvPr/>
        </p:nvSpPr>
        <p:spPr>
          <a:xfrm>
            <a:off x="905256" y="639165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C646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brainrouter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C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653796"/>
            <a:ext cx="109728" cy="109728"/>
          </a:xfrm>
          <a:prstGeom prst="ellipse">
            <a:avLst/>
          </a:prstGeom>
          <a:solidFill>
            <a:srgbClr val="34C2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60120" y="55778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4C28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" y="1024128"/>
            <a:ext cx="10762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3300" b="1" dirty="0">
                <a:solidFill>
                  <a:srgbClr val="F4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memory store. Four ways to plug in.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713232" y="1874520"/>
            <a:ext cx="5207508" cy="1755648"/>
          </a:xfrm>
          <a:prstGeom prst="roundRect">
            <a:avLst>
              <a:gd name="adj" fmla="val 5729"/>
            </a:avLst>
          </a:prstGeom>
          <a:solidFill>
            <a:srgbClr val="14181C"/>
          </a:solidFill>
          <a:ln w="12700">
            <a:solidFill>
              <a:srgbClr val="262D34"/>
            </a:solidFill>
            <a:prstDash val="solid"/>
          </a:ln>
          <a:effectLst>
            <a:outerShdw blurRad="177800" dist="508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97280" y="2258568"/>
            <a:ext cx="713232" cy="713232"/>
          </a:xfrm>
          <a:prstGeom prst="roundRect">
            <a:avLst>
              <a:gd name="adj" fmla="val 12821"/>
            </a:avLst>
          </a:prstGeom>
          <a:solidFill>
            <a:srgbClr val="0F1F18"/>
          </a:solidFill>
          <a:ln w="15875">
            <a:solidFill>
              <a:srgbClr val="34C2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6985" y="2458273"/>
            <a:ext cx="313822" cy="3138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66544" y="2258568"/>
            <a:ext cx="24643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4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Server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4594860" y="2295144"/>
            <a:ext cx="1051560" cy="347472"/>
          </a:xfrm>
          <a:prstGeom prst="roundRect">
            <a:avLst>
              <a:gd name="adj" fmla="val 50000"/>
            </a:avLst>
          </a:prstGeom>
          <a:solidFill>
            <a:srgbClr val="0F1F18"/>
          </a:solidFill>
          <a:ln w="12700">
            <a:solidFill>
              <a:srgbClr val="1E9E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594860" y="228600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34C28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066544" y="2770632"/>
            <a:ext cx="35615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CCD3D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Drop-in memory &amp; skills for any MCP client — Claude Desktop, Cursor, your own agent.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268212" y="1874520"/>
            <a:ext cx="5207508" cy="1755648"/>
          </a:xfrm>
          <a:prstGeom prst="roundRect">
            <a:avLst>
              <a:gd name="adj" fmla="val 5729"/>
            </a:avLst>
          </a:prstGeom>
          <a:solidFill>
            <a:srgbClr val="14181C"/>
          </a:solidFill>
          <a:ln w="12700">
            <a:solidFill>
              <a:srgbClr val="262D34"/>
            </a:solidFill>
            <a:prstDash val="solid"/>
          </a:ln>
          <a:effectLst>
            <a:outerShdw blurRad="177800" dist="508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652260" y="2258568"/>
            <a:ext cx="713232" cy="713232"/>
          </a:xfrm>
          <a:prstGeom prst="roundRect">
            <a:avLst>
              <a:gd name="adj" fmla="val 12821"/>
            </a:avLst>
          </a:prstGeom>
          <a:solidFill>
            <a:srgbClr val="0F1F18"/>
          </a:solidFill>
          <a:ln w="15875">
            <a:solidFill>
              <a:srgbClr val="34C2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1965" y="2458273"/>
            <a:ext cx="313822" cy="31382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621524" y="2258568"/>
            <a:ext cx="24643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4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Terminal CLI</a:t>
            </a:r>
            <a:endParaRPr lang="en-US" sz="1900" dirty="0"/>
          </a:p>
        </p:txBody>
      </p:sp>
      <p:sp>
        <p:nvSpPr>
          <p:cNvPr id="16" name="Shape 12"/>
          <p:cNvSpPr/>
          <p:nvPr/>
        </p:nvSpPr>
        <p:spPr>
          <a:xfrm>
            <a:off x="10149840" y="2295144"/>
            <a:ext cx="1051560" cy="347472"/>
          </a:xfrm>
          <a:prstGeom prst="roundRect">
            <a:avLst>
              <a:gd name="adj" fmla="val 50000"/>
            </a:avLst>
          </a:prstGeom>
          <a:solidFill>
            <a:srgbClr val="0F1F18"/>
          </a:solidFill>
          <a:ln w="12700">
            <a:solidFill>
              <a:srgbClr val="1E9E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10149840" y="228600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34C28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7621524" y="2770632"/>
            <a:ext cx="35615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CCD3D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 memory-native coding agent with multi-agent orchestration.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713232" y="3941064"/>
            <a:ext cx="5207508" cy="1755648"/>
          </a:xfrm>
          <a:prstGeom prst="roundRect">
            <a:avLst>
              <a:gd name="adj" fmla="val 5729"/>
            </a:avLst>
          </a:prstGeom>
          <a:solidFill>
            <a:srgbClr val="14181C"/>
          </a:solidFill>
          <a:ln w="12700">
            <a:solidFill>
              <a:srgbClr val="262D34"/>
            </a:solidFill>
            <a:prstDash val="solid"/>
          </a:ln>
          <a:effectLst>
            <a:outerShdw blurRad="177800" dist="508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1097280" y="4325112"/>
            <a:ext cx="713232" cy="713232"/>
          </a:xfrm>
          <a:prstGeom prst="roundRect">
            <a:avLst>
              <a:gd name="adj" fmla="val 12821"/>
            </a:avLst>
          </a:prstGeom>
          <a:solidFill>
            <a:srgbClr val="0F1F18"/>
          </a:solidFill>
          <a:ln w="15875">
            <a:solidFill>
              <a:srgbClr val="34C2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6985" y="4524817"/>
            <a:ext cx="313822" cy="31382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2066544" y="4325112"/>
            <a:ext cx="24643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4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Desktop App</a:t>
            </a:r>
            <a:endParaRPr lang="en-US" sz="1900" dirty="0"/>
          </a:p>
        </p:txBody>
      </p:sp>
      <p:sp>
        <p:nvSpPr>
          <p:cNvPr id="23" name="Shape 18"/>
          <p:cNvSpPr/>
          <p:nvPr/>
        </p:nvSpPr>
        <p:spPr>
          <a:xfrm>
            <a:off x="4594860" y="4361688"/>
            <a:ext cx="1051560" cy="347472"/>
          </a:xfrm>
          <a:prstGeom prst="roundRect">
            <a:avLst>
              <a:gd name="adj" fmla="val 50000"/>
            </a:avLst>
          </a:prstGeom>
          <a:solidFill>
            <a:srgbClr val="0F1F18"/>
          </a:solidFill>
          <a:ln w="12700">
            <a:solidFill>
              <a:srgbClr val="1E9E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4594860" y="4352544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34C28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Alpha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2066544" y="4837176"/>
            <a:ext cx="35615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CCD3D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Native Mac &amp; Windows shell over the same engine.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6268212" y="3941064"/>
            <a:ext cx="5207508" cy="1755648"/>
          </a:xfrm>
          <a:prstGeom prst="roundRect">
            <a:avLst>
              <a:gd name="adj" fmla="val 5729"/>
            </a:avLst>
          </a:prstGeom>
          <a:solidFill>
            <a:srgbClr val="14181C"/>
          </a:solidFill>
          <a:ln w="12700">
            <a:solidFill>
              <a:srgbClr val="262D34"/>
            </a:solidFill>
            <a:prstDash val="solid"/>
          </a:ln>
          <a:effectLst>
            <a:outerShdw blurRad="177800" dist="508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6652260" y="4325112"/>
            <a:ext cx="713232" cy="713232"/>
          </a:xfrm>
          <a:prstGeom prst="roundRect">
            <a:avLst>
              <a:gd name="adj" fmla="val 12821"/>
            </a:avLst>
          </a:prstGeom>
          <a:solidFill>
            <a:srgbClr val="0F1F18"/>
          </a:solidFill>
          <a:ln w="15875">
            <a:solidFill>
              <a:srgbClr val="34C2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1965" y="4524817"/>
            <a:ext cx="313822" cy="31382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621524" y="4325112"/>
            <a:ext cx="24643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4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 Dashboard</a:t>
            </a:r>
            <a:endParaRPr lang="en-US" sz="1900" dirty="0"/>
          </a:p>
        </p:txBody>
      </p:sp>
      <p:sp>
        <p:nvSpPr>
          <p:cNvPr id="30" name="Shape 24"/>
          <p:cNvSpPr/>
          <p:nvPr/>
        </p:nvSpPr>
        <p:spPr>
          <a:xfrm>
            <a:off x="10149840" y="4361688"/>
            <a:ext cx="1051560" cy="347472"/>
          </a:xfrm>
          <a:prstGeom prst="roundRect">
            <a:avLst>
              <a:gd name="adj" fmla="val 50000"/>
            </a:avLst>
          </a:prstGeom>
          <a:solidFill>
            <a:srgbClr val="0F1F18"/>
          </a:solidFill>
          <a:ln w="12700">
            <a:solidFill>
              <a:srgbClr val="1E9E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/>
          <p:nvPr/>
        </p:nvSpPr>
        <p:spPr>
          <a:xfrm>
            <a:off x="10149840" y="4352544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34C28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Shipping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7621524" y="4837176"/>
            <a:ext cx="35615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CCD3D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See the memory — recalls, contradictions, hosted chat.</a:t>
            </a:r>
            <a:endParaRPr lang="en-US" sz="1250" dirty="0"/>
          </a:p>
        </p:txBody>
      </p:sp>
      <p:sp>
        <p:nvSpPr>
          <p:cNvPr id="33" name="Text 27"/>
          <p:cNvSpPr/>
          <p:nvPr/>
        </p:nvSpPr>
        <p:spPr>
          <a:xfrm>
            <a:off x="713232" y="5943600"/>
            <a:ext cx="10762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4C28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 four share the same brain — sign in once, every surface sees the same memory.</a:t>
            </a:r>
            <a:endParaRPr lang="en-US" sz="1350" dirty="0"/>
          </a:p>
        </p:txBody>
      </p:sp>
      <p:sp>
        <p:nvSpPr>
          <p:cNvPr id="34" name="Shape 28"/>
          <p:cNvSpPr/>
          <p:nvPr/>
        </p:nvSpPr>
        <p:spPr>
          <a:xfrm>
            <a:off x="713232" y="6510528"/>
            <a:ext cx="91440" cy="91440"/>
          </a:xfrm>
          <a:prstGeom prst="ellipse">
            <a:avLst/>
          </a:prstGeom>
          <a:solidFill>
            <a:srgbClr val="34C2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29"/>
          <p:cNvSpPr/>
          <p:nvPr/>
        </p:nvSpPr>
        <p:spPr>
          <a:xfrm>
            <a:off x="905256" y="639165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C646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brainrouter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C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653796"/>
            <a:ext cx="109728" cy="109728"/>
          </a:xfrm>
          <a:prstGeom prst="ellipse">
            <a:avLst/>
          </a:prstGeom>
          <a:solidFill>
            <a:srgbClr val="34C2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60120" y="55778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4C28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" y="1024128"/>
            <a:ext cx="10762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3300" b="1" dirty="0">
                <a:solidFill>
                  <a:srgbClr val="F4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Shipping, in the open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713232" y="1828800"/>
            <a:ext cx="5207508" cy="1024128"/>
          </a:xfrm>
          <a:prstGeom prst="roundRect">
            <a:avLst>
              <a:gd name="adj" fmla="val 9821"/>
            </a:avLst>
          </a:prstGeom>
          <a:solidFill>
            <a:srgbClr val="14181C"/>
          </a:solidFill>
          <a:ln w="12700">
            <a:solidFill>
              <a:srgbClr val="1E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42416" y="20574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F1F18"/>
          </a:solidFill>
          <a:ln w="15875">
            <a:solidFill>
              <a:srgbClr val="34C2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1156" y="2216140"/>
            <a:ext cx="249448" cy="2494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2011680"/>
            <a:ext cx="38359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4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on npm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828800" y="2377440"/>
            <a:ext cx="38816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3A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engine and CLI are public and installable today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8212" y="1828800"/>
            <a:ext cx="5207508" cy="1024128"/>
          </a:xfrm>
          <a:prstGeom prst="roundRect">
            <a:avLst>
              <a:gd name="adj" fmla="val 9821"/>
            </a:avLst>
          </a:prstGeom>
          <a:solidFill>
            <a:srgbClr val="14181C"/>
          </a:solidFill>
          <a:ln w="12700">
            <a:solidFill>
              <a:srgbClr val="1E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597396" y="20574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F1F18"/>
          </a:solidFill>
          <a:ln w="15875">
            <a:solidFill>
              <a:srgbClr val="34C2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6136" y="2216140"/>
            <a:ext cx="249448" cy="2494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83780" y="2011680"/>
            <a:ext cx="38359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4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Weekly releases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7383780" y="2377440"/>
            <a:ext cx="38816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3A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 steady cadence — every release adds capability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13232" y="3127248"/>
            <a:ext cx="5207508" cy="1024128"/>
          </a:xfrm>
          <a:prstGeom prst="roundRect">
            <a:avLst>
              <a:gd name="adj" fmla="val 9821"/>
            </a:avLst>
          </a:prstGeom>
          <a:solidFill>
            <a:srgbClr val="14181C"/>
          </a:solidFill>
          <a:ln w="12700">
            <a:solidFill>
              <a:srgbClr val="1E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1042416" y="33558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F1F18"/>
          </a:solidFill>
          <a:ln w="15875">
            <a:solidFill>
              <a:srgbClr val="34C2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1156" y="3514588"/>
            <a:ext cx="249448" cy="2494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828800" y="3310128"/>
            <a:ext cx="38359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4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Public benchmarks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1828800" y="3675888"/>
            <a:ext cx="38816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3A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committed result sets, reproducible by anyone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268212" y="3127248"/>
            <a:ext cx="5207508" cy="1024128"/>
          </a:xfrm>
          <a:prstGeom prst="roundRect">
            <a:avLst>
              <a:gd name="adj" fmla="val 9821"/>
            </a:avLst>
          </a:prstGeom>
          <a:solidFill>
            <a:srgbClr val="14181C"/>
          </a:solidFill>
          <a:ln w="12700">
            <a:solidFill>
              <a:srgbClr val="1E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6597396" y="33558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F1F18"/>
          </a:solidFill>
          <a:ln w="15875">
            <a:solidFill>
              <a:srgbClr val="34C2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6136" y="3514588"/>
            <a:ext cx="249448" cy="2494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83780" y="3310128"/>
            <a:ext cx="38359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4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MIT licensed</a:t>
            </a:r>
            <a:endParaRPr lang="en-US" sz="1650" dirty="0"/>
          </a:p>
        </p:txBody>
      </p:sp>
      <p:sp>
        <p:nvSpPr>
          <p:cNvPr id="24" name="Text 18"/>
          <p:cNvSpPr/>
          <p:nvPr/>
        </p:nvSpPr>
        <p:spPr>
          <a:xfrm>
            <a:off x="7383780" y="3675888"/>
            <a:ext cx="38816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3A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open source, end to end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713232" y="43525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5C646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PATH SO FAR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804672" y="5047488"/>
            <a:ext cx="10579608" cy="0"/>
          </a:xfrm>
          <a:prstGeom prst="line">
            <a:avLst/>
          </a:prstGeom>
          <a:noFill/>
          <a:ln w="19050">
            <a:solidFill>
              <a:srgbClr val="262D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731520" y="4974336"/>
            <a:ext cx="146304" cy="146304"/>
          </a:xfrm>
          <a:prstGeom prst="ellipse">
            <a:avLst/>
          </a:prstGeom>
          <a:solidFill>
            <a:srgbClr val="14181C"/>
          </a:solidFill>
          <a:ln w="19050">
            <a:solidFill>
              <a:srgbClr val="34C2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2"/>
          <p:cNvSpPr/>
          <p:nvPr/>
        </p:nvSpPr>
        <p:spPr>
          <a:xfrm>
            <a:off x="27432" y="5212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CD3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Parity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2847442" y="4974336"/>
            <a:ext cx="146304" cy="146304"/>
          </a:xfrm>
          <a:prstGeom prst="ellipse">
            <a:avLst/>
          </a:prstGeom>
          <a:solidFill>
            <a:srgbClr val="14181C"/>
          </a:solidFill>
          <a:ln w="19050">
            <a:solidFill>
              <a:srgbClr val="34C2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2143354" y="5212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CD3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Workflows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4963363" y="4974336"/>
            <a:ext cx="146304" cy="146304"/>
          </a:xfrm>
          <a:prstGeom prst="ellipse">
            <a:avLst/>
          </a:prstGeom>
          <a:solidFill>
            <a:srgbClr val="14181C"/>
          </a:solidFill>
          <a:ln w="19050">
            <a:solidFill>
              <a:srgbClr val="34C2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/>
          <p:nvPr/>
        </p:nvSpPr>
        <p:spPr>
          <a:xfrm>
            <a:off x="4259275" y="5212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CD3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</a:t>
            </a:r>
            <a:endParaRPr lang="en-US" sz="1150" dirty="0"/>
          </a:p>
        </p:txBody>
      </p:sp>
      <p:sp>
        <p:nvSpPr>
          <p:cNvPr id="33" name="Shape 27"/>
          <p:cNvSpPr/>
          <p:nvPr/>
        </p:nvSpPr>
        <p:spPr>
          <a:xfrm>
            <a:off x="7079285" y="4974336"/>
            <a:ext cx="146304" cy="146304"/>
          </a:xfrm>
          <a:prstGeom prst="ellipse">
            <a:avLst/>
          </a:prstGeom>
          <a:solidFill>
            <a:srgbClr val="14181C"/>
          </a:solidFill>
          <a:ln w="19050">
            <a:solidFill>
              <a:srgbClr val="34C2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8"/>
          <p:cNvSpPr/>
          <p:nvPr/>
        </p:nvSpPr>
        <p:spPr>
          <a:xfrm>
            <a:off x="6375197" y="5212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CD3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loop</a:t>
            </a:r>
            <a:endParaRPr lang="en-US" sz="1150" dirty="0"/>
          </a:p>
        </p:txBody>
      </p:sp>
      <p:sp>
        <p:nvSpPr>
          <p:cNvPr id="35" name="Shape 29"/>
          <p:cNvSpPr/>
          <p:nvPr/>
        </p:nvSpPr>
        <p:spPr>
          <a:xfrm>
            <a:off x="9195206" y="4974336"/>
            <a:ext cx="146304" cy="146304"/>
          </a:xfrm>
          <a:prstGeom prst="ellipse">
            <a:avLst/>
          </a:prstGeom>
          <a:solidFill>
            <a:srgbClr val="14181C"/>
          </a:solidFill>
          <a:ln w="19050">
            <a:solidFill>
              <a:srgbClr val="34C2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0"/>
          <p:cNvSpPr/>
          <p:nvPr/>
        </p:nvSpPr>
        <p:spPr>
          <a:xfrm>
            <a:off x="8491118" y="5212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CD3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Accuracy</a:t>
            </a:r>
            <a:endParaRPr lang="en-US" sz="1150" dirty="0"/>
          </a:p>
        </p:txBody>
      </p:sp>
      <p:sp>
        <p:nvSpPr>
          <p:cNvPr id="37" name="Shape 31"/>
          <p:cNvSpPr/>
          <p:nvPr/>
        </p:nvSpPr>
        <p:spPr>
          <a:xfrm>
            <a:off x="11311128" y="4974336"/>
            <a:ext cx="146304" cy="146304"/>
          </a:xfrm>
          <a:prstGeom prst="ellipse">
            <a:avLst/>
          </a:prstGeom>
          <a:solidFill>
            <a:srgbClr val="34C28E"/>
          </a:solidFill>
          <a:ln w="19050">
            <a:solidFill>
              <a:srgbClr val="34C2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2"/>
          <p:cNvSpPr/>
          <p:nvPr/>
        </p:nvSpPr>
        <p:spPr>
          <a:xfrm>
            <a:off x="10607040" y="5212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4C28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Desktop</a:t>
            </a:r>
            <a:endParaRPr lang="en-US" sz="1150" dirty="0"/>
          </a:p>
        </p:txBody>
      </p:sp>
      <p:sp>
        <p:nvSpPr>
          <p:cNvPr id="39" name="Shape 33"/>
          <p:cNvSpPr/>
          <p:nvPr/>
        </p:nvSpPr>
        <p:spPr>
          <a:xfrm>
            <a:off x="713232" y="6510528"/>
            <a:ext cx="91440" cy="91440"/>
          </a:xfrm>
          <a:prstGeom prst="ellipse">
            <a:avLst/>
          </a:prstGeom>
          <a:solidFill>
            <a:srgbClr val="34C2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4"/>
          <p:cNvSpPr/>
          <p:nvPr/>
        </p:nvSpPr>
        <p:spPr>
          <a:xfrm>
            <a:off x="905256" y="639165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C646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brainrouter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C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653796"/>
            <a:ext cx="109728" cy="109728"/>
          </a:xfrm>
          <a:prstGeom prst="ellipse">
            <a:avLst/>
          </a:prstGeom>
          <a:solidFill>
            <a:srgbClr val="34C2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60120" y="55778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4C28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NOW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" y="1024128"/>
            <a:ext cx="10762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3300" b="1" dirty="0">
                <a:solidFill>
                  <a:srgbClr val="F4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 is becoming its own layer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713232" y="1920240"/>
            <a:ext cx="3331464" cy="2468880"/>
          </a:xfrm>
          <a:prstGeom prst="roundRect">
            <a:avLst>
              <a:gd name="adj" fmla="val 4074"/>
            </a:avLst>
          </a:prstGeom>
          <a:solidFill>
            <a:srgbClr val="14181C"/>
          </a:solidFill>
          <a:ln w="12700">
            <a:solidFill>
              <a:srgbClr val="262D34"/>
            </a:solidFill>
            <a:prstDash val="solid"/>
          </a:ln>
          <a:effectLst>
            <a:outerShdw blurRad="177800" dist="508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78992" y="2286000"/>
            <a:ext cx="694944" cy="694944"/>
          </a:xfrm>
          <a:prstGeom prst="roundRect">
            <a:avLst>
              <a:gd name="adj" fmla="val 13158"/>
            </a:avLst>
          </a:prstGeom>
          <a:solidFill>
            <a:srgbClr val="0F1F18"/>
          </a:solidFill>
          <a:ln w="15875">
            <a:solidFill>
              <a:srgbClr val="34C2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576" y="2480584"/>
            <a:ext cx="305775" cy="3057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78992" y="3154680"/>
            <a:ext cx="2691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650" b="1" dirty="0">
                <a:solidFill>
                  <a:srgbClr val="F4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Agents are everywhere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078992" y="3730752"/>
            <a:ext cx="2673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9AA3A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Coding, support, ops, research — every agent hits the same wall: it can't remember a thing.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28744" y="1920240"/>
            <a:ext cx="3331464" cy="2468880"/>
          </a:xfrm>
          <a:prstGeom prst="roundRect">
            <a:avLst>
              <a:gd name="adj" fmla="val 4074"/>
            </a:avLst>
          </a:prstGeom>
          <a:solidFill>
            <a:srgbClr val="14181C"/>
          </a:solidFill>
          <a:ln w="12700">
            <a:solidFill>
              <a:srgbClr val="262D34"/>
            </a:solidFill>
            <a:prstDash val="solid"/>
          </a:ln>
          <a:effectLst>
            <a:outerShdw blurRad="177800" dist="508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794504" y="2286000"/>
            <a:ext cx="694944" cy="694944"/>
          </a:xfrm>
          <a:prstGeom prst="roundRect">
            <a:avLst>
              <a:gd name="adj" fmla="val 13158"/>
            </a:avLst>
          </a:prstGeom>
          <a:solidFill>
            <a:srgbClr val="0F1F18"/>
          </a:solidFill>
          <a:ln w="15875">
            <a:solidFill>
              <a:srgbClr val="34C2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9088" y="2480584"/>
            <a:ext cx="305775" cy="30577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94504" y="3154680"/>
            <a:ext cx="2691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650" b="1" dirty="0">
                <a:solidFill>
                  <a:srgbClr val="F4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foundational layer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4794504" y="3730752"/>
            <a:ext cx="2673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9AA3A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database was to apps what memory is to agents — infrastructure, not a feature.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144256" y="1920240"/>
            <a:ext cx="3331464" cy="2468880"/>
          </a:xfrm>
          <a:prstGeom prst="roundRect">
            <a:avLst>
              <a:gd name="adj" fmla="val 4074"/>
            </a:avLst>
          </a:prstGeom>
          <a:solidFill>
            <a:srgbClr val="14181C"/>
          </a:solidFill>
          <a:ln w="12700">
            <a:solidFill>
              <a:srgbClr val="262D34"/>
            </a:solidFill>
            <a:prstDash val="solid"/>
          </a:ln>
          <a:effectLst>
            <a:outerShdw blurRad="177800" dist="50800" dir="5400000" algn="bl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510016" y="2286000"/>
            <a:ext cx="694944" cy="694944"/>
          </a:xfrm>
          <a:prstGeom prst="roundRect">
            <a:avLst>
              <a:gd name="adj" fmla="val 13158"/>
            </a:avLst>
          </a:prstGeom>
          <a:solidFill>
            <a:srgbClr val="0F1F18"/>
          </a:solidFill>
          <a:ln w="15875">
            <a:solidFill>
              <a:srgbClr val="34C2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4600" y="2480584"/>
            <a:ext cx="305775" cy="30577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10016" y="3154680"/>
            <a:ext cx="2691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650" b="1" dirty="0">
                <a:solidFill>
                  <a:srgbClr val="F4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Cross-vendor by design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8510016" y="3730752"/>
            <a:ext cx="2673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9AA3A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Federation lets agents on any vendor share one brain — the neutral standard.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713232" y="4709160"/>
            <a:ext cx="10762488" cy="868680"/>
          </a:xfrm>
          <a:prstGeom prst="roundRect">
            <a:avLst>
              <a:gd name="adj" fmla="val 11579"/>
            </a:avLst>
          </a:prstGeom>
          <a:solidFill>
            <a:srgbClr val="0F1F18"/>
          </a:solidFill>
          <a:ln w="12700">
            <a:solidFill>
              <a:srgbClr val="1E9E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1078992" y="4709160"/>
            <a:ext cx="100309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700" dirty="0">
                <a:solidFill>
                  <a:srgbClr val="F4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We're not building a better chatbot. </a:t>
            </a:r>
            <a:r>
              <a:rPr lang="en-US" sz="1700" b="1" dirty="0">
                <a:solidFill>
                  <a:srgbClr val="34C28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We're building the memory infrastructure underneath all of them.</a:t>
            </a:r>
            <a:endParaRPr lang="en-US" sz="1700" dirty="0"/>
          </a:p>
        </p:txBody>
      </p:sp>
      <p:sp>
        <p:nvSpPr>
          <p:cNvPr id="22" name="Shape 17"/>
          <p:cNvSpPr/>
          <p:nvPr/>
        </p:nvSpPr>
        <p:spPr>
          <a:xfrm>
            <a:off x="713232" y="6510528"/>
            <a:ext cx="91440" cy="91440"/>
          </a:xfrm>
          <a:prstGeom prst="ellipse">
            <a:avLst/>
          </a:prstGeom>
          <a:solidFill>
            <a:srgbClr val="34C2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905256" y="639165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C646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brainrouter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C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653796"/>
            <a:ext cx="109728" cy="109728"/>
          </a:xfrm>
          <a:prstGeom prst="ellipse">
            <a:avLst/>
          </a:prstGeom>
          <a:solidFill>
            <a:srgbClr val="34C2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60120" y="55778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4C28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" y="1024128"/>
            <a:ext cx="10762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3300" b="1" dirty="0">
                <a:solidFill>
                  <a:srgbClr val="F4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it's going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850392" y="2148840"/>
            <a:ext cx="0" cy="2834640"/>
          </a:xfrm>
          <a:prstGeom prst="line">
            <a:avLst/>
          </a:prstGeom>
          <a:noFill/>
          <a:ln w="19050">
            <a:solidFill>
              <a:srgbClr val="262D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9808" y="2103120"/>
            <a:ext cx="201168" cy="201168"/>
          </a:xfrm>
          <a:prstGeom prst="ellipse">
            <a:avLst/>
          </a:prstGeom>
          <a:solidFill>
            <a:srgbClr val="34C28E"/>
          </a:solidFill>
          <a:ln w="22225">
            <a:solidFill>
              <a:srgbClr val="34C2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61872" y="2011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150" dirty="0">
                <a:solidFill>
                  <a:srgbClr val="34C28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319272" y="1993392"/>
            <a:ext cx="8019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CCD3D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Memory accuracy, a multi-agent CLI, and a live view of the running fleet.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49808" y="3017520"/>
            <a:ext cx="201168" cy="201168"/>
          </a:xfrm>
          <a:prstGeom prst="ellipse">
            <a:avLst/>
          </a:prstGeom>
          <a:solidFill>
            <a:srgbClr val="14181C"/>
          </a:solidFill>
          <a:ln w="22225">
            <a:solidFill>
              <a:srgbClr val="34C2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61872" y="2926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150" dirty="0">
                <a:solidFill>
                  <a:srgbClr val="F4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19272" y="2907792"/>
            <a:ext cx="8019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CCD3D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Full agent-runtime parity, and the desktop app in alpha.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49808" y="3931920"/>
            <a:ext cx="201168" cy="201168"/>
          </a:xfrm>
          <a:prstGeom prst="ellipse">
            <a:avLst/>
          </a:prstGeom>
          <a:solidFill>
            <a:srgbClr val="14181C"/>
          </a:solidFill>
          <a:ln w="22225">
            <a:solidFill>
              <a:srgbClr val="34C2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61872" y="38404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150" dirty="0">
                <a:solidFill>
                  <a:srgbClr val="F4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319272" y="3822192"/>
            <a:ext cx="8019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CCD3D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 plugin &amp; skill marketplace, plus live sync with Git and GitHub.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49808" y="4846320"/>
            <a:ext cx="201168" cy="201168"/>
          </a:xfrm>
          <a:prstGeom prst="ellipse">
            <a:avLst/>
          </a:prstGeom>
          <a:solidFill>
            <a:srgbClr val="14181C"/>
          </a:solidFill>
          <a:ln w="22225">
            <a:solidFill>
              <a:srgbClr val="34C2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61872" y="47548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150" dirty="0">
                <a:solidFill>
                  <a:srgbClr val="F4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VISION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319272" y="4736592"/>
            <a:ext cx="8019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CCD3D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memory standard every agent — on any vendor — plugs into.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13232" y="6510528"/>
            <a:ext cx="91440" cy="91440"/>
          </a:xfrm>
          <a:prstGeom prst="ellipse">
            <a:avLst/>
          </a:prstGeom>
          <a:solidFill>
            <a:srgbClr val="34C2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05256" y="639165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C646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brainrouter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C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560320"/>
            <a:ext cx="7498080" cy="6035040"/>
          </a:xfrm>
          <a:prstGeom prst="ellipse">
            <a:avLst/>
          </a:prstGeom>
          <a:solidFill>
            <a:srgbClr val="34C28E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326880" y="-1371600"/>
            <a:ext cx="4389120" cy="3840480"/>
          </a:xfrm>
          <a:prstGeom prst="ellipse">
            <a:avLst/>
          </a:prstGeom>
          <a:solidFill>
            <a:srgbClr val="34C28E">
              <a:alpha val="9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13232" y="640080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0F1F18"/>
          </a:solidFill>
          <a:ln w="17780">
            <a:solidFill>
              <a:srgbClr val="34C2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740664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61872" y="62179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50" dirty="0">
                <a:solidFill>
                  <a:srgbClr val="F4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BrainRouter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76656" y="233172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4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Agents that remember.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713232" y="34747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CD3D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BrainRouter — the cognitive memory layer for AI agents.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13232" y="4297680"/>
            <a:ext cx="4709160" cy="640080"/>
          </a:xfrm>
          <a:prstGeom prst="roundRect">
            <a:avLst>
              <a:gd name="adj" fmla="val 15714"/>
            </a:avLst>
          </a:prstGeom>
          <a:solidFill>
            <a:srgbClr val="14181C"/>
          </a:solidFill>
          <a:ln w="12700">
            <a:solidFill>
              <a:srgbClr val="262D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448056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26464" y="42976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4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github.com/kinqsradiollc/BrainRouter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696712" y="4297680"/>
            <a:ext cx="4709160" cy="640080"/>
          </a:xfrm>
          <a:prstGeom prst="roundRect">
            <a:avLst>
              <a:gd name="adj" fmla="val 15714"/>
            </a:avLst>
          </a:prstGeom>
          <a:solidFill>
            <a:srgbClr val="14181C"/>
          </a:solidFill>
          <a:ln w="12700">
            <a:solidFill>
              <a:srgbClr val="262D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1032" y="448056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09944" y="42976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4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 -g @kinqs/brainrouter-cli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713232" y="5303520"/>
            <a:ext cx="10762488" cy="749808"/>
          </a:xfrm>
          <a:prstGeom prst="roundRect">
            <a:avLst>
              <a:gd name="adj" fmla="val 13415"/>
            </a:avLst>
          </a:prstGeom>
          <a:solidFill>
            <a:srgbClr val="0F1F18"/>
          </a:solidFill>
          <a:ln w="12700">
            <a:solidFill>
              <a:srgbClr val="1E9E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/>
          <p:nvPr/>
        </p:nvSpPr>
        <p:spPr>
          <a:xfrm>
            <a:off x="713232" y="5303520"/>
            <a:ext cx="10762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4C28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Let's talk.    </a:t>
            </a:r>
            <a:r>
              <a:rPr lang="en-US" sz="1600" dirty="0">
                <a:solidFill>
                  <a:srgbClr val="F4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Anh Dang   ·   </a:t>
            </a:r>
            <a:r>
              <a:rPr lang="en-US" sz="1600" dirty="0" err="1">
                <a:solidFill>
                  <a:srgbClr val="F4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anhdang@brainrouter.dev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860</Words>
  <Application>Microsoft Macintosh PowerPoint</Application>
  <PresentationFormat>Custom</PresentationFormat>
  <Paragraphs>180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Courier New</vt:lpstr>
      <vt:lpstr>Tahoma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BrainRouter — Investor Overview</dc:title>
  <dc:subject>PptxGenJS Presentation</dc:subject>
  <dc:creator>Anh Dang</dc:creator>
  <cp:lastModifiedBy>IT WiFi</cp:lastModifiedBy>
  <cp:revision>3</cp:revision>
  <dcterms:created xsi:type="dcterms:W3CDTF">2026-06-13T02:52:31Z</dcterms:created>
  <dcterms:modified xsi:type="dcterms:W3CDTF">2026-06-13T02:58:58Z</dcterms:modified>
</cp:coreProperties>
</file>